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1371600"/>
            <a:ext cx="731520" cy="914400"/>
          </a:xfrm>
          <a:prstGeom prst="line">
            <a:avLst/>
          </a:prstGeom>
          <a:noFill/>
          <a:ln w="15240">
            <a:solidFill>
              <a:srgbClr val="3330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9966960" y="2286000"/>
            <a:ext cx="1371600" cy="365760"/>
          </a:xfrm>
          <a:prstGeom prst="line">
            <a:avLst/>
          </a:prstGeom>
          <a:noFill/>
          <a:ln w="15240">
            <a:solidFill>
              <a:srgbClr val="333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2651760"/>
            <a:ext cx="1645920" cy="1554480"/>
          </a:xfrm>
          <a:prstGeom prst="line">
            <a:avLst/>
          </a:prstGeom>
          <a:noFill/>
          <a:ln w="15240">
            <a:solidFill>
              <a:srgbClr val="333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424160" y="4206240"/>
            <a:ext cx="1188720" cy="731520"/>
          </a:xfrm>
          <a:prstGeom prst="line">
            <a:avLst/>
          </a:prstGeom>
          <a:noFill/>
          <a:ln w="15240">
            <a:solidFill>
              <a:srgbClr val="3330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3840480"/>
            <a:ext cx="914400" cy="1097280"/>
          </a:xfrm>
          <a:prstGeom prst="line">
            <a:avLst/>
          </a:prstGeom>
          <a:noFill/>
          <a:ln w="15240">
            <a:solidFill>
              <a:srgbClr val="3330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33888" y="1298448"/>
            <a:ext cx="146304" cy="146304"/>
          </a:xfrm>
          <a:prstGeom prst="ellipse">
            <a:avLst/>
          </a:prstGeom>
          <a:solidFill>
            <a:srgbClr val="4A4680"/>
          </a:solidFill>
          <a:ln/>
        </p:spPr>
      </p:sp>
      <p:sp>
        <p:nvSpPr>
          <p:cNvPr id="8" name="Shape 6"/>
          <p:cNvSpPr/>
          <p:nvPr/>
        </p:nvSpPr>
        <p:spPr>
          <a:xfrm>
            <a:off x="11265408" y="2212848"/>
            <a:ext cx="146304" cy="146304"/>
          </a:xfrm>
          <a:prstGeom prst="ellipse">
            <a:avLst/>
          </a:prstGeom>
          <a:solidFill>
            <a:srgbClr val="4A4680"/>
          </a:solidFill>
          <a:ln/>
        </p:spPr>
      </p:sp>
      <p:sp>
        <p:nvSpPr>
          <p:cNvPr id="9" name="Shape 7"/>
          <p:cNvSpPr/>
          <p:nvPr/>
        </p:nvSpPr>
        <p:spPr>
          <a:xfrm>
            <a:off x="9893808" y="2578608"/>
            <a:ext cx="146304" cy="146304"/>
          </a:xfrm>
          <a:prstGeom prst="ellipse">
            <a:avLst/>
          </a:prstGeom>
          <a:solidFill>
            <a:srgbClr val="4A46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39728" y="4133088"/>
            <a:ext cx="146304" cy="146304"/>
          </a:xfrm>
          <a:prstGeom prst="ellipse">
            <a:avLst/>
          </a:prstGeom>
          <a:solidFill>
            <a:srgbClr val="4A4680"/>
          </a:solidFill>
          <a:ln/>
        </p:spPr>
      </p:sp>
      <p:sp>
        <p:nvSpPr>
          <p:cNvPr id="11" name="Shape 9"/>
          <p:cNvSpPr/>
          <p:nvPr/>
        </p:nvSpPr>
        <p:spPr>
          <a:xfrm>
            <a:off x="10351008" y="4864608"/>
            <a:ext cx="146304" cy="146304"/>
          </a:xfrm>
          <a:prstGeom prst="ellipse">
            <a:avLst/>
          </a:prstGeom>
          <a:solidFill>
            <a:srgbClr val="4A4680"/>
          </a:solidFill>
          <a:ln/>
        </p:spPr>
      </p:sp>
      <p:sp>
        <p:nvSpPr>
          <p:cNvPr id="12" name="Shape 10"/>
          <p:cNvSpPr/>
          <p:nvPr/>
        </p:nvSpPr>
        <p:spPr>
          <a:xfrm>
            <a:off x="9436608" y="3767328"/>
            <a:ext cx="146304" cy="146304"/>
          </a:xfrm>
          <a:prstGeom prst="ellipse">
            <a:avLst/>
          </a:prstGeom>
          <a:solidFill>
            <a:srgbClr val="4A46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862822" y="3005633"/>
            <a:ext cx="1104138" cy="651967"/>
          </a:xfrm>
          <a:prstGeom prst="line">
            <a:avLst/>
          </a:prstGeom>
          <a:noFill/>
          <a:ln w="32131">
            <a:solidFill>
              <a:srgbClr val="6C5C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862822" y="3657600"/>
            <a:ext cx="1104138" cy="651967"/>
          </a:xfrm>
          <a:prstGeom prst="line">
            <a:avLst/>
          </a:prstGeom>
          <a:noFill/>
          <a:ln w="32131">
            <a:solidFill>
              <a:srgbClr val="6C5C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2822" y="3005633"/>
            <a:ext cx="0" cy="1303934"/>
          </a:xfrm>
          <a:prstGeom prst="line">
            <a:avLst/>
          </a:prstGeom>
          <a:noFill/>
          <a:ln w="32131">
            <a:solidFill>
              <a:srgbClr val="6C5C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9966960" y="3005633"/>
            <a:ext cx="1104138" cy="651967"/>
          </a:xfrm>
          <a:prstGeom prst="line">
            <a:avLst/>
          </a:prstGeom>
          <a:noFill/>
          <a:ln w="32131">
            <a:solidFill>
              <a:srgbClr val="6C5C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3657600"/>
            <a:ext cx="1104138" cy="651967"/>
          </a:xfrm>
          <a:prstGeom prst="line">
            <a:avLst/>
          </a:prstGeom>
          <a:noFill/>
          <a:ln w="32131">
            <a:solidFill>
              <a:srgbClr val="6C5C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71098" y="3005633"/>
            <a:ext cx="0" cy="1303934"/>
          </a:xfrm>
          <a:prstGeom prst="line">
            <a:avLst/>
          </a:prstGeom>
          <a:noFill/>
          <a:ln w="32131">
            <a:solidFill>
              <a:srgbClr val="6C5C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05088" y="2847899"/>
            <a:ext cx="315468" cy="315468"/>
          </a:xfrm>
          <a:prstGeom prst="ellipse">
            <a:avLst/>
          </a:prstGeom>
          <a:solidFill>
            <a:srgbClr val="A29BFE"/>
          </a:solidFill>
          <a:ln/>
        </p:spPr>
      </p:sp>
      <p:sp>
        <p:nvSpPr>
          <p:cNvPr id="20" name="Shape 18"/>
          <p:cNvSpPr/>
          <p:nvPr/>
        </p:nvSpPr>
        <p:spPr>
          <a:xfrm>
            <a:off x="8705088" y="4151833"/>
            <a:ext cx="315468" cy="315468"/>
          </a:xfrm>
          <a:prstGeom prst="ellipse">
            <a:avLst/>
          </a:prstGeom>
          <a:solidFill>
            <a:srgbClr val="A29BFE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13364" y="2847899"/>
            <a:ext cx="315468" cy="315468"/>
          </a:xfrm>
          <a:prstGeom prst="ellipse">
            <a:avLst/>
          </a:prstGeom>
          <a:solidFill>
            <a:srgbClr val="A29BFE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13364" y="4151833"/>
            <a:ext cx="315468" cy="315468"/>
          </a:xfrm>
          <a:prstGeom prst="ellipse">
            <a:avLst/>
          </a:prstGeom>
          <a:solidFill>
            <a:srgbClr val="A29BFE"/>
          </a:solidFill>
          <a:ln/>
        </p:spPr>
      </p:sp>
      <p:sp>
        <p:nvSpPr>
          <p:cNvPr id="23" name="Shape 21"/>
          <p:cNvSpPr/>
          <p:nvPr/>
        </p:nvSpPr>
        <p:spPr>
          <a:xfrm>
            <a:off x="9785566" y="3476206"/>
            <a:ext cx="362788" cy="362788"/>
          </a:xfrm>
          <a:prstGeom prst="ellipse">
            <a:avLst/>
          </a:prstGeom>
          <a:solidFill>
            <a:srgbClr val="31E6C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31E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CONJECTURE HUNTERS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8368" y="2011680"/>
            <a:ext cx="7955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Evolving graphs that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refute open conjectures.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676656" y="4114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9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evolutionary engine for spectral graph theory — LLM (Gemma) mutations, a Rust search core, and exact, un-gameable certificates. Running on AMD.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Developer Hackathon · ACT II</a:t>
            </a:r>
            <a:pPr indent="0" marL="0">
              <a:buNone/>
            </a:pPr>
            <a:r>
              <a:rPr lang="en-US" sz="1250" b="1" dirty="0">
                <a:solidFill>
                  <a:srgbClr val="8A8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Track 3 Unicorn  ·  Best AMD-Hosted Gemma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TRACTABLE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Refute = find one counterexample, then prove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600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conjecture claims </a:t>
            </a:r>
            <a:pPr indent="0" marL="0">
              <a:lnSpc>
                <a:spcPct val="112000"/>
              </a:lnSpc>
              <a:buNone/>
            </a:pPr>
            <a:r>
              <a:rPr lang="en-US" sz="1550" i="1" dirty="0">
                <a:solidFill>
                  <a:srgbClr val="241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 every graph G, P(G) holds.”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Refuting it needs exactly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graph where P fails — plus a check that the failure is real. That asymmetry is a search problem with cheap, exact verification: ideal for evolution paired with an un-gameable certificate.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2743200"/>
            <a:ext cx="3529584" cy="2926080"/>
          </a:xfrm>
          <a:prstGeom prst="roundRect">
            <a:avLst>
              <a:gd name="adj" fmla="val 3125"/>
            </a:avLst>
          </a:prstGeom>
          <a:solidFill>
            <a:srgbClr val="F4F3FB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3090672"/>
            <a:ext cx="658368" cy="65836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30906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78408" y="39502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8408" y="4370832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(LLM) + parallel GA propose programs that print graphs.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69664" y="365760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07992" y="2743200"/>
            <a:ext cx="3529584" cy="2926080"/>
          </a:xfrm>
          <a:prstGeom prst="roundRect">
            <a:avLst>
              <a:gd name="adj" fmla="val 3125"/>
            </a:avLst>
          </a:prstGeom>
          <a:solidFill>
            <a:srgbClr val="F4F3FB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3090672"/>
            <a:ext cx="658368" cy="65836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30906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28032" y="39502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28032" y="4370832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frozen exact evaluator scores the gap.  gap &gt; 0  ⇔  counterexample.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19288" y="365760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357616" y="2743200"/>
            <a:ext cx="3529584" cy="2926080"/>
          </a:xfrm>
          <a:prstGeom prst="roundRect">
            <a:avLst>
              <a:gd name="adj" fmla="val 3125"/>
            </a:avLst>
          </a:prstGeom>
          <a:solidFill>
            <a:srgbClr val="F4F3FB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77656" y="3090672"/>
            <a:ext cx="658368" cy="6583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8677656" y="30906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677656" y="39502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77656" y="4370832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arithmetic proves the gap — immune to floating-point error.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BUILT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evolutionary loop, an exact backstop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19656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73352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41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is the mutation operator  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edits programs that print graphs, inside an OpenEvolve loop (best-of-N, ordinal ranking).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871216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24912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41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search core (rayon + faer)  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31× faster than Python, bit-parity to 1e-9 vs the frozen oracle — 3,212 graphs, 0 misclassifications.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3922776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776472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41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Islands + Thompson bandit  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Discounted bandit steers effort across conjecture lanes; MAP-Elites keeps novelty.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52360" y="15179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8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CASCADE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52360" y="1901952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4F3FB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08392" y="2281428"/>
            <a:ext cx="292608" cy="29260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3" name="Text 11"/>
          <p:cNvSpPr/>
          <p:nvPr/>
        </p:nvSpPr>
        <p:spPr>
          <a:xfrm>
            <a:off x="8165592" y="20482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 ·  Validity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165592" y="24323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malformed graphs fast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81160" y="29169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9BFE"/>
                </a:solidFill>
              </a:rPr>
              <a:t>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360" y="3209544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4F3FB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08392" y="3589020"/>
            <a:ext cx="292608" cy="29260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8" name="Text 16"/>
          <p:cNvSpPr/>
          <p:nvPr/>
        </p:nvSpPr>
        <p:spPr>
          <a:xfrm>
            <a:off x="8165592" y="33558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 ·  Rust batch eval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65592" y="37398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over thousands of graphs, in parallel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81160" y="422452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9BFE"/>
                </a:solidFill>
              </a:rPr>
              <a:t>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52360" y="4517136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4F3FB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08392" y="4896612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8165592" y="4663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 ·  Exact certificate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165592" y="50474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final, un-gameable verdict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6C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— CALIBRATION VERTICAL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Re-discovers SOTA in seconds; 86 tests green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4F3FB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208483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C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 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42416" y="29077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re-find the CAL-1 counterexample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2416" y="32004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AMCS reference: 46 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82512" y="18288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4F3FB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48272" y="208483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C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 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766560" y="29077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re-discover the n = 203 benchmark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0" y="32004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certify it exactly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877056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4F3FB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24128" y="413308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042416" y="49560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green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42416" y="52486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exhaustive oracle, all 994 graphs n≤7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82512" y="3877056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4F3FB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48272" y="413308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C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10,056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766560" y="49560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evaluations / second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0" y="52486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evaluator, parallel · 31.5× vs Python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capability is re-runnable via a 7/7 scorecard — we always know if a change improves or regresses.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1E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refuted an OPEN conjecture — and improved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Jia–Song (2018), Conjecture 3.8</a:t>
            </a:r>
            <a:pPr indent="0" marL="0">
              <a:buNone/>
            </a:pPr>
            <a:r>
              <a:rPr lang="en-US" sz="1500" dirty="0">
                <a:solidFill>
                  <a:srgbClr val="B9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catalogued open in the Aouchiche–Rather 2024 survey.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194560"/>
            <a:ext cx="6675120" cy="3566160"/>
          </a:xfrm>
          <a:prstGeom prst="roundRect">
            <a:avLst>
              <a:gd name="adj" fmla="val 2564"/>
            </a:avLst>
          </a:prstGeom>
          <a:solidFill>
            <a:srgbClr val="1E1B3A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5146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+ ∂₂  ≥  </a:t>
            </a:r>
            <a:pPr indent="0" marL="0">
              <a:buNone/>
            </a:pPr>
            <a:r>
              <a:rPr lang="en-US" sz="2000" b="1" dirty="0">
                <a:solidFill>
                  <a:srgbClr val="A29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n/(n−1) + (n−1 − √((n−1)²+8))/2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315468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16C79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154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REFUTED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7947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B9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Counterexample: the infinite family 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31E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K₁ ∨ 2Kᵣ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B9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Smallest = the friendship graph 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F₂ (n=5)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B9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46177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ρ+∂₂(F₂) = 0.79844  &lt;  0.80051 = B(5)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1E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certificate:  59² = 3481 &gt; 3456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8096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F₂  ·  the counterexample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05038" y="3212287"/>
            <a:ext cx="1296162" cy="765353"/>
          </a:xfrm>
          <a:prstGeom prst="line">
            <a:avLst/>
          </a:prstGeom>
          <a:noFill/>
          <a:ln w="37719">
            <a:solidFill>
              <a:srgbClr val="6C5C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305038" y="3977640"/>
            <a:ext cx="1296162" cy="765353"/>
          </a:xfrm>
          <a:prstGeom prst="line">
            <a:avLst/>
          </a:prstGeom>
          <a:noFill/>
          <a:ln w="37719">
            <a:solidFill>
              <a:srgbClr val="6C5C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5038" y="3212287"/>
            <a:ext cx="0" cy="1530706"/>
          </a:xfrm>
          <a:prstGeom prst="line">
            <a:avLst/>
          </a:prstGeom>
          <a:noFill/>
          <a:ln w="37719">
            <a:solidFill>
              <a:srgbClr val="6C5C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601200" y="3212287"/>
            <a:ext cx="1296162" cy="765353"/>
          </a:xfrm>
          <a:prstGeom prst="line">
            <a:avLst/>
          </a:prstGeom>
          <a:noFill/>
          <a:ln w="37719">
            <a:solidFill>
              <a:srgbClr val="6C5C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3977640"/>
            <a:ext cx="1296162" cy="765353"/>
          </a:xfrm>
          <a:prstGeom prst="line">
            <a:avLst/>
          </a:prstGeom>
          <a:noFill/>
          <a:ln w="37719">
            <a:solidFill>
              <a:srgbClr val="6C5C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97362" y="3212287"/>
            <a:ext cx="0" cy="1530706"/>
          </a:xfrm>
          <a:prstGeom prst="line">
            <a:avLst/>
          </a:prstGeom>
          <a:noFill/>
          <a:ln w="37719">
            <a:solidFill>
              <a:srgbClr val="6C5C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3027121"/>
            <a:ext cx="370332" cy="370332"/>
          </a:xfrm>
          <a:prstGeom prst="ellipse">
            <a:avLst/>
          </a:prstGeom>
          <a:solidFill>
            <a:srgbClr val="A29B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119872" y="4557827"/>
            <a:ext cx="370332" cy="370332"/>
          </a:xfrm>
          <a:prstGeom prst="ellipse">
            <a:avLst/>
          </a:prstGeom>
          <a:solidFill>
            <a:srgbClr val="A29BF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12196" y="3027121"/>
            <a:ext cx="370332" cy="370332"/>
          </a:xfrm>
          <a:prstGeom prst="ellipse">
            <a:avLst/>
          </a:prstGeom>
          <a:solidFill>
            <a:srgbClr val="A29BFE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12196" y="4557827"/>
            <a:ext cx="370332" cy="370332"/>
          </a:xfrm>
          <a:prstGeom prst="ellipse">
            <a:avLst/>
          </a:prstGeom>
          <a:solidFill>
            <a:srgbClr val="A29BFE"/>
          </a:solidFill>
          <a:ln/>
        </p:spPr>
      </p:sp>
      <p:sp>
        <p:nvSpPr>
          <p:cNvPr id="22" name="Shape 20"/>
          <p:cNvSpPr/>
          <p:nvPr/>
        </p:nvSpPr>
        <p:spPr>
          <a:xfrm>
            <a:off x="9388259" y="3764699"/>
            <a:ext cx="425882" cy="425882"/>
          </a:xfrm>
          <a:prstGeom prst="ellipse">
            <a:avLst/>
          </a:prstGeom>
          <a:solidFill>
            <a:srgbClr val="31E6C0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0" y="58064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A2650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58064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E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proof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29800" y="580644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2A2650"/>
          </a:solidFill>
          <a:ln/>
        </p:spPr>
      </p:sp>
      <p:sp>
        <p:nvSpPr>
          <p:cNvPr id="26" name="Text 24"/>
          <p:cNvSpPr/>
          <p:nvPr/>
        </p:nvSpPr>
        <p:spPr>
          <a:xfrm>
            <a:off x="9829800" y="5806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E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independently verified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 CAN TRUST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Un-gameable — and honestly scoped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4F3FB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116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UN-GAMEABLE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2468880"/>
            <a:ext cx="137160" cy="1371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1216152" y="2386584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arithmetic — zero floating-point in the verdict (sympy Sturm / mpmath + Weyl residual).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3493008"/>
            <a:ext cx="137160" cy="1371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9" name="Text 7"/>
          <p:cNvSpPr/>
          <p:nvPr/>
        </p:nvSpPr>
        <p:spPr>
          <a:xfrm>
            <a:off x="1216152" y="3410712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independent second method reproduces ρ+∂₂ &lt; B(n).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4517136"/>
            <a:ext cx="137160" cy="1371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1216152" y="443484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primary source exposed a transcription error in the published equality case (Kₙ−2e vs Kₙ−e) — documented.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82512" y="178308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4F3FB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84264" y="20116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C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SCOPE  +  IMPROVEMENT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84264" y="2468880"/>
            <a:ext cx="137160" cy="13716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5" name="Text 13"/>
          <p:cNvSpPr/>
          <p:nvPr/>
        </p:nvSpPr>
        <p:spPr>
          <a:xfrm>
            <a:off x="6940296" y="2386584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stated as strong evidence, not certainty — a literature search is never exhaustive.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84264" y="3493008"/>
            <a:ext cx="137160" cy="13716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7" name="Text 15"/>
          <p:cNvSpPr/>
          <p:nvPr/>
        </p:nvSpPr>
        <p:spPr>
          <a:xfrm>
            <a:off x="6940296" y="3410712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broken — improved: a corrected sharp bound B′(n); true minimizer = the balanced two-clique join.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84264" y="4517136"/>
            <a:ext cx="137160" cy="13716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9" name="Text 17"/>
          <p:cNvSpPr/>
          <p:nvPr/>
        </p:nvSpPr>
        <p:spPr>
          <a:xfrm>
            <a:off x="6940296" y="443484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state exactly where it fails: {n odd ≥ 5} ∪ {n even ≥ 10}.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AMD + GEMMA STORY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scale on MI300X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10844784" cy="1234440"/>
          </a:xfrm>
          <a:prstGeom prst="roundRect">
            <a:avLst>
              <a:gd name="adj" fmla="val 7407"/>
            </a:avLst>
          </a:prstGeom>
          <a:solidFill>
            <a:srgbClr val="F4F3FB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89988"/>
            <a:ext cx="512064" cy="51206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Parallelism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993392"/>
            <a:ext cx="6675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MI300X runs 20+ conjecture lanes at once — the throughput that makes evolutionary search over graphs practical.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3319272"/>
            <a:ext cx="10844784" cy="1234440"/>
          </a:xfrm>
          <a:prstGeom prst="roundRect">
            <a:avLst>
              <a:gd name="adj" fmla="val 7407"/>
            </a:avLst>
          </a:prstGeom>
          <a:solidFill>
            <a:srgbClr val="F4F3FB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3680460"/>
            <a:ext cx="512064" cy="512064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350215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in the loop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483864"/>
            <a:ext cx="6675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is the mutation operator: Fireworks today, AMD-hosted MI300X for the prize (one line of config).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4809744"/>
            <a:ext cx="10844784" cy="1234440"/>
          </a:xfrm>
          <a:prstGeom prst="roundRect">
            <a:avLst>
              <a:gd name="adj" fmla="val 7407"/>
            </a:avLst>
          </a:prstGeom>
          <a:solidFill>
            <a:srgbClr val="F4F3FB"/>
          </a:solidFill>
          <a:ln/>
          <a:effectLst>
            <a:outerShdw sx="100000" sy="100000" kx="0" ky="0" algn="bl" rotWithShape="0" blurRad="114300" dist="38100" dir="5400000">
              <a:srgbClr val="1B174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5170932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499262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Self-improvement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974336"/>
            <a:ext cx="6675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A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(PatternBoost) fine-tunes Gemma on 6,100 harvested gap-improving edits — the system learns to mutate better.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40080"/>
            <a:ext cx="822960" cy="411480"/>
          </a:xfrm>
          <a:prstGeom prst="line">
            <a:avLst/>
          </a:prstGeom>
          <a:noFill/>
          <a:ln w="15240">
            <a:solidFill>
              <a:srgbClr val="3330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789920" y="685800"/>
            <a:ext cx="731520" cy="365760"/>
          </a:xfrm>
          <a:prstGeom prst="line">
            <a:avLst/>
          </a:prstGeom>
          <a:noFill/>
          <a:ln w="15240">
            <a:solidFill>
              <a:srgbClr val="333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972800" y="685800"/>
            <a:ext cx="548640" cy="868680"/>
          </a:xfrm>
          <a:prstGeom prst="line">
            <a:avLst/>
          </a:prstGeom>
          <a:noFill/>
          <a:ln w="15240">
            <a:solidFill>
              <a:srgbClr val="333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98380" y="571500"/>
            <a:ext cx="137160" cy="137160"/>
          </a:xfrm>
          <a:prstGeom prst="ellipse">
            <a:avLst/>
          </a:prstGeom>
          <a:solidFill>
            <a:srgbClr val="4A4680"/>
          </a:solidFill>
          <a:ln/>
        </p:spPr>
      </p:sp>
      <p:sp>
        <p:nvSpPr>
          <p:cNvPr id="6" name="Shape 4"/>
          <p:cNvSpPr/>
          <p:nvPr/>
        </p:nvSpPr>
        <p:spPr>
          <a:xfrm>
            <a:off x="10721340" y="982980"/>
            <a:ext cx="137160" cy="137160"/>
          </a:xfrm>
          <a:prstGeom prst="ellipse">
            <a:avLst/>
          </a:prstGeom>
          <a:solidFill>
            <a:srgbClr val="4A4680"/>
          </a:solidFill>
          <a:ln/>
        </p:spPr>
      </p:sp>
      <p:sp>
        <p:nvSpPr>
          <p:cNvPr id="7" name="Shape 5"/>
          <p:cNvSpPr/>
          <p:nvPr/>
        </p:nvSpPr>
        <p:spPr>
          <a:xfrm>
            <a:off x="11452860" y="617220"/>
            <a:ext cx="137160" cy="137160"/>
          </a:xfrm>
          <a:prstGeom prst="ellipse">
            <a:avLst/>
          </a:prstGeom>
          <a:solidFill>
            <a:srgbClr val="4A4680"/>
          </a:solidFill>
          <a:ln/>
        </p:spPr>
      </p:sp>
      <p:sp>
        <p:nvSpPr>
          <p:cNvPr id="8" name="Shape 6"/>
          <p:cNvSpPr/>
          <p:nvPr/>
        </p:nvSpPr>
        <p:spPr>
          <a:xfrm>
            <a:off x="10904220" y="1485900"/>
            <a:ext cx="137160" cy="137160"/>
          </a:xfrm>
          <a:prstGeom prst="ellipse">
            <a:avLst/>
          </a:prstGeom>
          <a:solidFill>
            <a:srgbClr val="4A468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860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finds it.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 arithmetic proves it.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41248" y="41605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open conjecture refuted   ·   SOTA re-discovered in seconds   ·   86 tests   ·   exact certificates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41248" y="489204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4892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github.com/Hawhaz/conjecture-hunters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Conjecture Hunters  ·  AMD Developer Hackathon ACT II  ·  July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Conjecture Hunters</dc:title>
  <dc:subject>PptxGenJS Presentation</dc:subject>
  <dc:creator>Conjecture Hunters</dc:creator>
  <cp:lastModifiedBy>Conjecture Hunters</cp:lastModifiedBy>
  <cp:revision>1</cp:revision>
  <dcterms:created xsi:type="dcterms:W3CDTF">2026-07-07T17:29:44Z</dcterms:created>
  <dcterms:modified xsi:type="dcterms:W3CDTF">2026-07-07T17:29:44Z</dcterms:modified>
</cp:coreProperties>
</file>